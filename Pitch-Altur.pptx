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slides/charts/chart1.xml" ContentType="application/vnd.openxmlformats-officedocument.drawingml.chart+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1f647bd249db4cd0" /><Relationship Type="http://schemas.openxmlformats.org/officeDocument/2006/relationships/extended-properties" Target="/docProps/app.xml" Id="Re06856efd2a54cc9" /><Relationship Type="http://schemas.openxmlformats.org/officeDocument/2006/relationships/officeDocument" Target="/ppt/presentation.xml" Id="R4e950dd773594401" /></Relationships>
</file>

<file path=ppt/presentation.xml><?xml version="1.0" encoding="utf-8"?>
<p:presentation xmlns:p="http://schemas.openxmlformats.org/presentationml/2006/main">
  <p:sldMasterIdLst>
    <p:sldMasterId xmlns:r="http://schemas.openxmlformats.org/officeDocument/2006/relationships" id="2147483648" r:id="R4e23cb7aa86147fb"/>
  </p:sldMasterIdLst>
  <p:notesMasterIdLst>
    <p:notesMasterId xmlns:r="http://schemas.openxmlformats.org/officeDocument/2006/relationships" r:id="R2725ec511f32469a"/>
  </p:notesMasterIdLst>
  <p:sldIdLst>
    <p:sldId xmlns:r="http://schemas.openxmlformats.org/officeDocument/2006/relationships" id="256" r:id="R00ccbeb6e36b46a2"/>
    <p:sldId xmlns:r="http://schemas.openxmlformats.org/officeDocument/2006/relationships" id="257" r:id="R99301f04faaa4bca"/>
    <p:sldId xmlns:r="http://schemas.openxmlformats.org/officeDocument/2006/relationships" id="258" r:id="R630c5907675a4149"/>
    <p:sldId xmlns:r="http://schemas.openxmlformats.org/officeDocument/2006/relationships" id="259" r:id="R59bc295702994a05"/>
    <p:sldId xmlns:r="http://schemas.openxmlformats.org/officeDocument/2006/relationships" id="260" r:id="Re950c55fec534c55"/>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d74d7ae36f542b5" /><Relationship Type="http://schemas.openxmlformats.org/officeDocument/2006/relationships/slideMaster" Target="/ppt/slideMasters/slideMaster1.xml" Id="R4e23cb7aa86147fb" /><Relationship Type="http://schemas.openxmlformats.org/officeDocument/2006/relationships/notesMaster" Target="/ppt/notesMasters/notesMaster1.xml" Id="R2725ec511f32469a" /><Relationship Type="http://schemas.openxmlformats.org/officeDocument/2006/relationships/presProps" Target="/ppt/presProps.xml" Id="R1a247f924aa349ca" /><Relationship Type="http://schemas.openxmlformats.org/officeDocument/2006/relationships/tableStyles" Target="/ppt/tableStyles.xml" Id="R7ccf24826eb542d2" /><Relationship Type="http://schemas.openxmlformats.org/officeDocument/2006/relationships/slide" Target="/ppt/slides/slide1.xml" Id="R00ccbeb6e36b46a2" /><Relationship Type="http://schemas.openxmlformats.org/officeDocument/2006/relationships/slide" Target="/ppt/slides/slide2.xml" Id="R99301f04faaa4bca" /><Relationship Type="http://schemas.openxmlformats.org/officeDocument/2006/relationships/slide" Target="/ppt/slides/slide3.xml" Id="R630c5907675a4149" /><Relationship Type="http://schemas.openxmlformats.org/officeDocument/2006/relationships/slide" Target="/ppt/slides/slide4.xml" Id="R59bc295702994a05" /><Relationship Type="http://schemas.openxmlformats.org/officeDocument/2006/relationships/slide" Target="/ppt/slides/slide5.xml" Id="Re950c55fec534c5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e0a36e377664af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8482966bb884491" /><Relationship Type="http://schemas.openxmlformats.org/officeDocument/2006/relationships/notesMaster" Target="/ppt/notesMasters/notesMaster1.xml" Id="R20d385163b0942c7" /></Relationships>
</file>

<file path=ppt/notesSlides/_rels/notesSlide2.xml.rels>&#65279;<?xml version="1.0" encoding="utf-8"?><Relationships xmlns="http://schemas.openxmlformats.org/package/2006/relationships"><Relationship Type="http://schemas.openxmlformats.org/officeDocument/2006/relationships/slide" Target="/ppt/slides/slide2.xml" Id="R9198ca857e494afb" /><Relationship Type="http://schemas.openxmlformats.org/officeDocument/2006/relationships/notesMaster" Target="/ppt/notesMasters/notesMaster1.xml" Id="R8fdae46e58d24d25" /></Relationships>
</file>

<file path=ppt/notesSlides/_rels/notesSlide3.xml.rels>&#65279;<?xml version="1.0" encoding="utf-8"?><Relationships xmlns="http://schemas.openxmlformats.org/package/2006/relationships"><Relationship Type="http://schemas.openxmlformats.org/officeDocument/2006/relationships/slide" Target="/ppt/slides/slide3.xml" Id="Re94d9542c9ae4555" /><Relationship Type="http://schemas.openxmlformats.org/officeDocument/2006/relationships/notesMaster" Target="/ppt/notesMasters/notesMaster1.xml" Id="Ra09c764f05054619" /></Relationships>
</file>

<file path=ppt/notesSlides/_rels/notesSlide4.xml.rels>&#65279;<?xml version="1.0" encoding="utf-8"?><Relationships xmlns="http://schemas.openxmlformats.org/package/2006/relationships"><Relationship Type="http://schemas.openxmlformats.org/officeDocument/2006/relationships/slide" Target="/ppt/slides/slide4.xml" Id="Rbf505dcc95524f56" /><Relationship Type="http://schemas.openxmlformats.org/officeDocument/2006/relationships/notesMaster" Target="/ppt/notesMasters/notesMaster1.xml" Id="Ree78cbbe514e4e64" /></Relationships>
</file>

<file path=ppt/notesSlides/_rels/notesSlide5.xml.rels>&#65279;<?xml version="1.0" encoding="utf-8"?><Relationships xmlns="http://schemas.openxmlformats.org/package/2006/relationships"><Relationship Type="http://schemas.openxmlformats.org/officeDocument/2006/relationships/slide" Target="/ppt/slides/slide5.xml" Id="R7589f7c9acfb476d" /><Relationship Type="http://schemas.openxmlformats.org/officeDocument/2006/relationships/notesMaster" Target="/ppt/notesMasters/notesMaster1.xml" Id="R6110c0b9138543e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0:00–0:25. En una llamada bancaria, una voz sintética puede conversar con el agente. Nuestro sistema recibe la llamada y estima si la voz del cliente es sintética. El propósito de la demo es ayudar al agente a decidir cuándo pedir una verificación adicional, conservando evidencia de cada decisión. No sustituye la verificación de identidad. Fuente: dataset Altur https://github.com/alturio/hackmty26 y reportes locales verification-detect-dev3-http.json, models/model.json. Validación pública con 71 llamadas, modelo entrenado solo en train=282. No es benchmark oculto.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0:25–1:00. La entrada es un WAV estéreo de ocho kilohertz. El canal cero contiene al cliente y el uno al agente. Detectamos actividad de voz y extraemos patrones temporales de la interacción. El clasificador combina tres modelos y utiliza 87 variables. Dev 3 añade una explicación de pausas, solapamientos y latencias negativas. Esa explicación todavía no cambia el score, porque su mejora en validación cruzada fue pequeña. Fuente: dataset Altur https://github.com/alturio/hackmty26 y reportes locales verification-detect-dev3-http.json, models/model.json. Validación pública con 71 llamadas, modelo entrenado solo en train=282. No es benchmark oculto.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1:00–1:45. Validamos por HTTP con las 71 llamadas del conjunto público de validación. El modelo acertó 67, un 94.4 por ciento. De 37 humanos, clasificó correctamente 34. De 34 sintéticos, clasificó correctamente 33. Hubo tres falsas alertas sobre humanos y un sintético no detectado. Conservamos esas limitaciones en el pitch. Los resultados corresponden a llamadas completas y al equipo local, no al conjunto oculto ni a una instancia en nube. Fuente: dataset Altur https://github.com/alturio/hackmty26 y reportes locales verification-detect-dev3-http.json, models/model.json. Validación pública con 71 llamadas, modelo entrenado solo en train=282. No es benchmark oculto.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1:45–2:30. En la demo seleccionamos un WAV y mostramos la respuesta del endpoint. Cada solicitud recibe un identificador. Guardamos veredicto, probabilidad del modelo y latencia en SQLite, sin conservar audio o transcripción en el registro. La escritura ocurre en segundo plano y sus fallos son visibles. La alerta de voz propone una verificación adicional. ElevenLabs y PostgreSQL están preparados para conectarse, pero su prueba con cuentas reales está pendiente de credenciales. No presentamos esa conexión como terminada. Fuente: implementación dev4/audit.py, dev4/voice.py, dev4/postgres.py.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2:30–3:00. Hoy mostramos clasificación local, análisis temporal y auditoría persistente funcionando juntos. El modelo mantiene una validación separada. El siguiente paso es conectar las cuentas de Gemini, ElevenLabs y PostgreSQL, medir sus resultados y desplegar con HTTPS para probar desde fuera de la red local. La propuesta es concreta: una señal que el agente puede revisar, con un historial de cómo se tomó la decisión. Fuente: README y reportes locales de esta entrega.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190d3f4640e470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b11e0d9587f41e8" /><Relationship Type="http://schemas.openxmlformats.org/officeDocument/2006/relationships/slideLayout" Target="/ppt/slideLayouts/slideLayout1.xml" Id="R2d761512c63047c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d761512c63047c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d0b04525dcf6434c" /><Relationship Type="http://schemas.openxmlformats.org/officeDocument/2006/relationships/notesSlide" Target="/ppt/notesSlides/notesSlide1.xml" Id="Rf3de7be65f904c28"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d041e07b602947da" /><Relationship Type="http://schemas.openxmlformats.org/officeDocument/2006/relationships/notesSlide" Target="/ppt/notesSlides/notesSlide2.xml" Id="R1d3dcde422614514"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285e197c708c4bd6" /><Relationship Type="http://schemas.openxmlformats.org/officeDocument/2006/relationships/chart" Target="/ppt/slides/charts/chart1.xml" Id="R613b999d740b42c7" /><Relationship Type="http://schemas.openxmlformats.org/officeDocument/2006/relationships/notesSlide" Target="/ppt/notesSlides/notesSlide3.xml" Id="R0c59124edb534cb0"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9eaa5dbfaca441fa" /><Relationship Type="http://schemas.openxmlformats.org/officeDocument/2006/relationships/notesSlide" Target="/ppt/notesSlides/notesSlide4.xml" Id="R522e156a56cc430d"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cd00e6c283a14afb" /><Relationship Type="http://schemas.openxmlformats.org/officeDocument/2006/relationships/notesSlide" Target="/ppt/notesSlides/notesSlide5.xml" Id="Rbd2f2d4cc375466a"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bar"/>
        <c:grouping val="stacked"/>
        <c:varyColors val="0"/>
        <c:ser>
          <c:idx val="0"/>
          <c:order val="0"/>
          <c:tx>
            <c:v>Correctos</c:v>
          </c:tx>
          <c:spPr>
            <a:solidFill xmlns:a="http://schemas.openxmlformats.org/drawingml/2006/main">
              <a:srgbClr val="7EE8C2"/>
            </a:solidFill>
          </c:spPr>
          <c:cat>
            <c:strRef>
              <c:f>'Chart Data'!$A$2:$A$3</c:f>
              <c:strCache>
                <c:ptCount val="2"/>
                <c:pt idx="0">
                  <c:v>Humanos</c:v>
                </c:pt>
                <c:pt idx="1">
                  <c:v>Sintéticos</c:v>
                </c:pt>
              </c:strCache>
            </c:strRef>
          </c:cat>
          <c:val>
            <c:numRef>
              <c:f>'Chart Data'!$B$2:$B$3</c:f>
              <c:numCache>
                <c:formatCode>0</c:formatCode>
                <c:ptCount val="2"/>
                <c:pt idx="0">
                  <c:v>34</c:v>
                </c:pt>
                <c:pt idx="1">
                  <c:v>33</c:v>
                </c:pt>
              </c:numCache>
            </c:numRef>
          </c:val>
        </c:ser>
        <c:ser>
          <c:idx val="1"/>
          <c:order val="1"/>
          <c:tx>
            <c:v>Errores</c:v>
          </c:tx>
          <c:spPr>
            <a:solidFill xmlns:a="http://schemas.openxmlformats.org/drawingml/2006/main">
              <a:srgbClr val="FFC27D"/>
            </a:solidFill>
          </c:spPr>
          <c:cat>
            <c:strRef>
              <c:f>'Chart Data'!$C$2:$C$3</c:f>
              <c:strCache>
                <c:ptCount val="2"/>
                <c:pt idx="0">
                  <c:v>Humanos</c:v>
                </c:pt>
                <c:pt idx="1">
                  <c:v>Sintéticos</c:v>
                </c:pt>
              </c:strCache>
            </c:strRef>
          </c:cat>
          <c:val>
            <c:numRef>
              <c:f>'Chart Data'!$D$2:$D$3</c:f>
              <c:numCache>
                <c:formatCode>0</c:formatCode>
                <c:ptCount val="2"/>
                <c:pt idx="0">
                  <c:v>3</c:v>
                </c:pt>
                <c:pt idx="1">
                  <c:v>1</c:v>
                </c:pt>
              </c:numCache>
            </c:numRef>
          </c:val>
        </c:ser>
        <c:dLbls>
          <c:txPr>
            <a:bodyPr xmlns:a="http://schemas.openxmlformats.org/drawingml/2006/main" anchorCtr="1"/>
            <a:lstStyle xmlns:a="http://schemas.openxmlformats.org/drawingml/2006/main"/>
            <a:p xmlns:a="http://schemas.openxmlformats.org/drawingml/2006/main">
              <a:pPr>
                <a:defRPr sz="1950" b="1">
                  <a:solidFill>
                    <a:srgbClr val="101A25"/>
                  </a:solidFill>
                  <a:latin typeface="Helvetica Neue"/>
                  <a:ea typeface="Helvetica Neue"/>
                  <a:cs typeface="Helvetica Neue"/>
                </a:defRPr>
              </a:pPr>
            </a:p>
          </c:txPr>
          <c:dLblPos val="ctr"/>
          <c:showLegendKey val="0"/>
          <c:showVal val="1"/>
          <c:showCatName val="0"/>
          <c:showSerName val="0"/>
          <c:showPercent val="0"/>
          <c:showBubbleSize val="0"/>
          <c:showLeaderLines val="0"/>
        </c:dLbls>
        <c:gapWidth val="90"/>
        <c:overlap val="100"/>
        <c:axId val="48650112"/>
        <c:axId val="48672768"/>
      </c:barChart>
      <c:catAx>
        <c:axId val="48650112"/>
        <c:scaling>
          <c:orientation val="minMax"/>
        </c:scaling>
        <c:delete val="0"/>
        <c:axPos val="l"/>
        <c:numFmt formatCode="General"/>
        <c:majorTickMark val="none"/>
        <c:minorTickMark val="none"/>
        <c:spPr>
          <a:ln xmlns:a="http://schemas.openxmlformats.org/drawingml/2006/main">
            <a:noFill/>
          </a:ln>
        </c:spPr>
        <c:txPr>
          <a:bodyPr xmlns:a="http://schemas.openxmlformats.org/drawingml/2006/main" anchorCtr="1"/>
          <a:lstStyle xmlns:a="http://schemas.openxmlformats.org/drawingml/2006/main"/>
          <a:p xmlns:a="http://schemas.openxmlformats.org/drawingml/2006/main">
            <a:pPr>
              <a:defRPr sz="1875">
                <a:solidFill>
                  <a:srgbClr val="F0F5FA"/>
                </a:solidFill>
                <a:latin typeface="Helvetica Neue"/>
                <a:ea typeface="Helvetica Neue"/>
                <a:cs typeface="Helvetica Neue"/>
              </a:defRPr>
            </a:pPr>
          </a:p>
        </c:txPr>
        <c:crossAx val="48672768"/>
      </c:catAx>
      <c:valAx>
        <c:axId val="48672768"/>
        <c:scaling>
          <c:orientation val="minMax"/>
          <c:max val="40"/>
          <c:min val="0"/>
        </c:scaling>
        <c:delete val="0"/>
        <c:axPos val="b"/>
        <c:majorGridlines>
          <c:spPr>
            <a:ln xmlns:a="http://schemas.openxmlformats.org/drawingml/2006/main" w="9525">
              <a:solidFill>
                <a:srgbClr val="304756"/>
              </a:solidFill>
            </a:ln>
          </c:spPr>
        </c:majorGridlines>
        <c:numFmt formatCode="0"/>
        <c:majorTickMark val="none"/>
        <c:minorTickMark val="none"/>
        <c:spPr>
          <a:ln xmlns:a="http://schemas.openxmlformats.org/drawingml/2006/main">
            <a:noFill/>
          </a:ln>
        </c:spPr>
        <c:txPr>
          <a:bodyPr xmlns:a="http://schemas.openxmlformats.org/drawingml/2006/main" anchorCtr="1"/>
          <a:lstStyle xmlns:a="http://schemas.openxmlformats.org/drawingml/2006/main"/>
          <a:p xmlns:a="http://schemas.openxmlformats.org/drawingml/2006/main">
            <a:pPr>
              <a:defRPr sz="1725">
                <a:solidFill>
                  <a:srgbClr val="AFC3D0"/>
                </a:solidFill>
                <a:latin typeface="Helvetica Neue"/>
                <a:ea typeface="Helvetica Neue"/>
                <a:cs typeface="Helvetica Neue"/>
              </a:defRPr>
            </a:pPr>
          </a:p>
        </c:txPr>
        <c:crossAx val="48650112"/>
        <c:crossBetween val="between"/>
        <c:majorUnit val="10"/>
      </c:valAx>
      <c:spPr>
        <a:solidFill xmlns:a="http://schemas.openxmlformats.org/drawingml/2006/main">
          <a:srgbClr val="101A25"/>
        </a:solidFill>
      </c:spPr>
    </c:plotArea>
    <c:legend>
      <c:legendPos val="b"/>
      <c:overlay val="0"/>
      <c:txPr>
        <a:bodyPr xmlns:a="http://schemas.openxmlformats.org/drawingml/2006/main" anchorCtr="1"/>
        <a:lstStyle xmlns:a="http://schemas.openxmlformats.org/drawingml/2006/main"/>
        <a:p xmlns:a="http://schemas.openxmlformats.org/drawingml/2006/main">
          <a:pPr>
            <a:defRPr sz="1875">
              <a:solidFill>
                <a:srgbClr val="F0F5FA"/>
              </a:solidFill>
              <a:latin typeface="Helvetica Neue"/>
              <a:ea typeface="Helvetica Neue"/>
              <a:cs typeface="Helvetica Neue"/>
            </a:defRPr>
          </a:pPr>
        </a:p>
      </c:txPr>
    </c:legend>
    <c:plotVisOnly val="1"/>
  </c:chart>
  <c:spPr>
    <a:solidFill xmlns:a="http://schemas.openxmlformats.org/drawingml/2006/main">
      <a:srgbClr val="101A25"/>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01A25"/>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A7DDD262-B39C-4836-958E-06838FB0F5F0}"/>
              </a:ext>
            </a:extLst>
          </p:cNvPr>
          <p:cNvSpPr>
            <a:spLocks xmlns:a="http://schemas.openxmlformats.org/drawingml/2006/main" noGrp="1"/>
          </p:cNvSpPr>
          <p:nvPr/>
        </p:nvSpPr>
        <p:spPr>
          <a:xfrm xmlns:a="http://schemas.openxmlformats.org/drawingml/2006/main">
            <a:off x="685800" y="1762125"/>
            <a:ext cx="10668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950" b="1">
                <a:solidFill>
                  <a:srgbClr val="F0F5FA"/>
                </a:solidFill>
                <a:latin typeface="Helvetica Neue"/>
                <a:ea typeface="Helvetica Neue"/>
                <a:cs typeface="Helvetica Neue"/>
              </a:defRPr>
            </a:pPr>
            <a:r>
              <a:rPr sz="4950" b="1">
                <a:solidFill>
                  <a:srgbClr val="F0F5FA"/>
                </a:solidFill>
                <a:latin typeface="Helvetica Neue"/>
                <a:ea typeface="Helvetica Neue"/>
                <a:cs typeface="Helvetica Neue"/>
              </a:rPr>
              <a:t>Señales de voz sintética</a:t>
            </a:r>
          </a:p>
        </p:txBody>
      </p:sp>
      <p:sp>
        <p:nvSpPr>
          <p:cNvPr id="2" name="">
            <a:extLst xmlns:a="http://schemas.openxmlformats.org/drawingml/2006/main">
              <a:ext uri="{FF2B5EF4-FFF2-40B4-BE49-F238E27FC236}">
                <a16:creationId xmlns:a16="http://schemas.microsoft.com/office/drawing/2014/main" id="{E14D9FA1-C6DF-4F9E-B814-E665E6249CB7}"/>
              </a:ext>
            </a:extLst>
          </p:cNvPr>
          <p:cNvSpPr>
            <a:spLocks xmlns:a="http://schemas.openxmlformats.org/drawingml/2006/main" noGrp="1"/>
          </p:cNvSpPr>
          <p:nvPr/>
        </p:nvSpPr>
        <p:spPr>
          <a:xfrm xmlns:a="http://schemas.openxmlformats.org/drawingml/2006/main">
            <a:off x="685800" y="2762250"/>
            <a:ext cx="10668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950" b="1">
                <a:solidFill>
                  <a:srgbClr val="7EE8C2"/>
                </a:solidFill>
                <a:latin typeface="Helvetica Neue"/>
                <a:ea typeface="Helvetica Neue"/>
                <a:cs typeface="Helvetica Neue"/>
              </a:defRPr>
            </a:pPr>
            <a:r>
              <a:rPr sz="4950" b="1">
                <a:solidFill>
                  <a:srgbClr val="7EE8C2"/>
                </a:solidFill>
                <a:latin typeface="Helvetica Neue"/>
                <a:ea typeface="Helvetica Neue"/>
                <a:cs typeface="Helvetica Neue"/>
              </a:rPr>
              <a:t>en llamadas bancarias</a:t>
            </a:r>
          </a:p>
        </p:txBody>
      </p:sp>
      <p:sp>
        <p:nvSpPr>
          <p:cNvPr id="3" name="">
            <a:extLst xmlns:a="http://schemas.openxmlformats.org/drawingml/2006/main">
              <a:ext uri="{FF2B5EF4-FFF2-40B4-BE49-F238E27FC236}">
                <a16:creationId xmlns:a16="http://schemas.microsoft.com/office/drawing/2014/main" id="{75A77633-1217-4AF5-9CA1-7E02336E7A47}"/>
              </a:ext>
            </a:extLst>
          </p:cNvPr>
          <p:cNvSpPr>
            <a:spLocks xmlns:a="http://schemas.openxmlformats.org/drawingml/2006/main" noGrp="1"/>
          </p:cNvSpPr>
          <p:nvPr/>
        </p:nvSpPr>
        <p:spPr>
          <a:xfrm xmlns:a="http://schemas.openxmlformats.org/drawingml/2006/main">
            <a:off x="723900" y="4857750"/>
            <a:ext cx="666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AFC3D0"/>
                </a:solidFill>
                <a:latin typeface="Helvetica Neue"/>
                <a:ea typeface="Helvetica Neue"/>
                <a:cs typeface="Helvetica Neue"/>
              </a:defRPr>
            </a:pPr>
            <a:r>
              <a:rPr sz="2250" b="0">
                <a:solidFill>
                  <a:srgbClr val="AFC3D0"/>
                </a:solidFill>
                <a:latin typeface="Helvetica Neue"/>
                <a:ea typeface="Helvetica Neue"/>
                <a:cs typeface="Helvetica Neue"/>
              </a:rPr>
              <a:t>HackMTY 2026</a:t>
            </a:r>
          </a:p>
          <a:p xmlns:a="http://schemas.openxmlformats.org/drawingml/2006/main">
            <a:pPr>
              <a:defRPr sz="2250" b="0">
                <a:solidFill>
                  <a:srgbClr val="AFC3D0"/>
                </a:solidFill>
                <a:latin typeface="Helvetica Neue"/>
                <a:ea typeface="Helvetica Neue"/>
                <a:cs typeface="Helvetica Neue"/>
              </a:defRPr>
            </a:pPr>
            <a:r>
              <a:rPr sz="2250" b="0">
                <a:solidFill>
                  <a:srgbClr val="AFC3D0"/>
                </a:solidFill>
                <a:latin typeface="Helvetica Neue"/>
                <a:ea typeface="Helvetica Neue"/>
                <a:cs typeface="Helvetica Neue"/>
              </a:rPr>
              <a:t>Reto Altur</a:t>
            </a:r>
          </a:p>
        </p:txBody>
      </p:sp>
    </p:spTree>
    <p:extLst>
      <p:ext uri="{BB962C8B-B14F-4D97-AF65-F5344CB8AC3E}">
        <p14:creationId xmlns:p14="http://schemas.microsoft.com/office/powerpoint/2010/main" val="1489759077"/>
      </p:ext>
    </p:extLst>
  </p:cSld>
</p:sld>
</file>

<file path=ppt/slides/slide2.xml><?xml version="1.0" encoding="utf-8"?>
<p:sld xmlns:p="http://schemas.openxmlformats.org/presentationml/2006/main">
  <p:cSld>
    <p:bg>
      <p:bgPr>
        <a:solidFill xmlns:a="http://schemas.openxmlformats.org/drawingml/2006/main">
          <a:srgbClr val="101A25"/>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CD901CAD-6559-4E27-BA07-921ADE573425}"/>
              </a:ext>
            </a:extLst>
          </p:cNvPr>
          <p:cNvSpPr>
            <a:spLocks xmlns:a="http://schemas.openxmlformats.org/drawingml/2006/main" noGrp="1"/>
          </p:cNvSpPr>
          <p:nvPr/>
        </p:nvSpPr>
        <p:spPr>
          <a:xfrm xmlns:a="http://schemas.openxmlformats.org/drawingml/2006/main">
            <a:off x="685800" y="47625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750" b="1">
                <a:solidFill>
                  <a:srgbClr val="F0F5FA"/>
                </a:solidFill>
                <a:latin typeface="Helvetica Neue"/>
                <a:ea typeface="Helvetica Neue"/>
                <a:cs typeface="Helvetica Neue"/>
              </a:defRPr>
            </a:pPr>
            <a:r>
              <a:rPr sz="3750" b="1">
                <a:solidFill>
                  <a:srgbClr val="F0F5FA"/>
                </a:solidFill>
                <a:latin typeface="Helvetica Neue"/>
                <a:ea typeface="Helvetica Neue"/>
                <a:cs typeface="Helvetica Neue"/>
              </a:rPr>
              <a:t>La interacción como evidencia</a:t>
            </a:r>
          </a:p>
        </p:txBody>
      </p:sp>
      <p:sp>
        <p:nvSpPr>
          <p:cNvPr id="2" name="">
            <a:extLst xmlns:a="http://schemas.openxmlformats.org/drawingml/2006/main">
              <a:ext uri="{FF2B5EF4-FFF2-40B4-BE49-F238E27FC236}">
                <a16:creationId xmlns:a16="http://schemas.microsoft.com/office/drawing/2014/main" id="{6A573250-A5D7-4C74-BBA0-84A541D2B8A4}"/>
              </a:ext>
            </a:extLst>
          </p:cNvPr>
          <p:cNvSpPr>
            <a:spLocks xmlns:a="http://schemas.openxmlformats.org/drawingml/2006/main" noGrp="1"/>
          </p:cNvSpPr>
          <p:nvPr/>
        </p:nvSpPr>
        <p:spPr>
          <a:xfrm xmlns:a="http://schemas.openxmlformats.org/drawingml/2006/main">
            <a:off x="685800" y="1857375"/>
            <a:ext cx="4857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7EE8C2"/>
                </a:solidFill>
                <a:latin typeface="Helvetica Neue"/>
                <a:ea typeface="Helvetica Neue"/>
                <a:cs typeface="Helvetica Neue"/>
              </a:defRPr>
            </a:pPr>
            <a:r>
              <a:rPr sz="3300" b="1">
                <a:solidFill>
                  <a:srgbClr val="7EE8C2"/>
                </a:solidFill>
                <a:latin typeface="Helvetica Neue"/>
                <a:ea typeface="Helvetica Neue"/>
                <a:cs typeface="Helvetica Neue"/>
              </a:rPr>
              <a:t>Cliente</a:t>
            </a:r>
          </a:p>
        </p:txBody>
      </p:sp>
      <p:sp>
        <p:nvSpPr>
          <p:cNvPr id="3" name="">
            <a:extLst xmlns:a="http://schemas.openxmlformats.org/drawingml/2006/main">
              <a:ext uri="{FF2B5EF4-FFF2-40B4-BE49-F238E27FC236}">
                <a16:creationId xmlns:a16="http://schemas.microsoft.com/office/drawing/2014/main" id="{2AF2ED93-886A-4F89-BD80-D872A8CE2568}"/>
              </a:ext>
            </a:extLst>
          </p:cNvPr>
          <p:cNvSpPr>
            <a:spLocks xmlns:a="http://schemas.openxmlformats.org/drawingml/2006/main" noGrp="1"/>
          </p:cNvSpPr>
          <p:nvPr/>
        </p:nvSpPr>
        <p:spPr>
          <a:xfrm xmlns:a="http://schemas.openxmlformats.org/drawingml/2006/main">
            <a:off x="685800" y="2571750"/>
            <a:ext cx="4857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AFC3D0"/>
                </a:solidFill>
                <a:latin typeface="Helvetica Neue"/>
                <a:ea typeface="Helvetica Neue"/>
                <a:cs typeface="Helvetica Neue"/>
              </a:defRPr>
            </a:pPr>
            <a:r>
              <a:rPr sz="2400" b="0">
                <a:solidFill>
                  <a:srgbClr val="AFC3D0"/>
                </a:solidFill>
                <a:latin typeface="Helvetica Neue"/>
                <a:ea typeface="Helvetica Neue"/>
                <a:cs typeface="Helvetica Neue"/>
              </a:rPr>
              <a:t>Canal 0</a:t>
            </a:r>
          </a:p>
        </p:txBody>
      </p:sp>
      <p:sp>
        <p:nvSpPr>
          <p:cNvPr id="4" name="">
            <a:extLst xmlns:a="http://schemas.openxmlformats.org/drawingml/2006/main">
              <a:ext uri="{FF2B5EF4-FFF2-40B4-BE49-F238E27FC236}">
                <a16:creationId xmlns:a16="http://schemas.microsoft.com/office/drawing/2014/main" id="{657E2278-5F0D-411F-915C-3D361B06D4BA}"/>
              </a:ext>
            </a:extLst>
          </p:cNvPr>
          <p:cNvSpPr>
            <a:spLocks xmlns:a="http://schemas.openxmlformats.org/drawingml/2006/main" noGrp="1"/>
          </p:cNvSpPr>
          <p:nvPr/>
        </p:nvSpPr>
        <p:spPr>
          <a:xfrm xmlns:a="http://schemas.openxmlformats.org/drawingml/2006/main">
            <a:off x="6667500" y="1857375"/>
            <a:ext cx="4857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7EE8C2"/>
                </a:solidFill>
                <a:latin typeface="Helvetica Neue"/>
                <a:ea typeface="Helvetica Neue"/>
                <a:cs typeface="Helvetica Neue"/>
              </a:defRPr>
            </a:pPr>
            <a:r>
              <a:rPr sz="3300" b="1">
                <a:solidFill>
                  <a:srgbClr val="7EE8C2"/>
                </a:solidFill>
                <a:latin typeface="Helvetica Neue"/>
                <a:ea typeface="Helvetica Neue"/>
                <a:cs typeface="Helvetica Neue"/>
              </a:rPr>
              <a:t>Agente</a:t>
            </a:r>
          </a:p>
        </p:txBody>
      </p:sp>
      <p:sp>
        <p:nvSpPr>
          <p:cNvPr id="5" name="">
            <a:extLst xmlns:a="http://schemas.openxmlformats.org/drawingml/2006/main">
              <a:ext uri="{FF2B5EF4-FFF2-40B4-BE49-F238E27FC236}">
                <a16:creationId xmlns:a16="http://schemas.microsoft.com/office/drawing/2014/main" id="{2A567066-BC56-4FDA-AD3F-7C11321AEE28}"/>
              </a:ext>
            </a:extLst>
          </p:cNvPr>
          <p:cNvSpPr>
            <a:spLocks xmlns:a="http://schemas.openxmlformats.org/drawingml/2006/main" noGrp="1"/>
          </p:cNvSpPr>
          <p:nvPr/>
        </p:nvSpPr>
        <p:spPr>
          <a:xfrm xmlns:a="http://schemas.openxmlformats.org/drawingml/2006/main">
            <a:off x="6667500" y="2571750"/>
            <a:ext cx="4857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AFC3D0"/>
                </a:solidFill>
                <a:latin typeface="Helvetica Neue"/>
                <a:ea typeface="Helvetica Neue"/>
                <a:cs typeface="Helvetica Neue"/>
              </a:defRPr>
            </a:pPr>
            <a:r>
              <a:rPr sz="2400" b="0">
                <a:solidFill>
                  <a:srgbClr val="AFC3D0"/>
                </a:solidFill>
                <a:latin typeface="Helvetica Neue"/>
                <a:ea typeface="Helvetica Neue"/>
                <a:cs typeface="Helvetica Neue"/>
              </a:rPr>
              <a:t>Canal 1</a:t>
            </a:r>
          </a:p>
        </p:txBody>
      </p:sp>
      <p:sp>
        <p:nvSpPr>
          <p:cNvPr id="6" name="">
            <a:extLst xmlns:a="http://schemas.openxmlformats.org/drawingml/2006/main">
              <a:ext uri="{FF2B5EF4-FFF2-40B4-BE49-F238E27FC236}">
                <a16:creationId xmlns:a16="http://schemas.microsoft.com/office/drawing/2014/main" id="{522E2DAD-5402-4825-9B6B-267C587EF37E}"/>
              </a:ext>
            </a:extLst>
          </p:cNvPr>
          <p:cNvSpPr>
            <a:spLocks xmlns:a="http://schemas.openxmlformats.org/drawingml/2006/main" noGrp="1"/>
          </p:cNvSpPr>
          <p:nvPr/>
        </p:nvSpPr>
        <p:spPr>
          <a:xfrm xmlns:a="http://schemas.openxmlformats.org/drawingml/2006/main">
            <a:off x="685800" y="3857625"/>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0">
                <a:solidFill>
                  <a:srgbClr val="F0F5FA"/>
                </a:solidFill>
                <a:latin typeface="Helvetica Neue"/>
                <a:ea typeface="Helvetica Neue"/>
                <a:cs typeface="Helvetica Neue"/>
              </a:defRPr>
            </a:pPr>
            <a:r>
              <a:rPr sz="2700" b="0">
                <a:solidFill>
                  <a:srgbClr val="F0F5FA"/>
                </a:solidFill>
                <a:latin typeface="Helvetica Neue"/>
                <a:ea typeface="Helvetica Neue"/>
                <a:cs typeface="Helvetica Neue"/>
              </a:rPr>
              <a:t>87 variables temporales alimentan el clasificador.</a:t>
            </a:r>
          </a:p>
        </p:txBody>
      </p:sp>
      <p:sp>
        <p:nvSpPr>
          <p:cNvPr id="7" name="">
            <a:extLst xmlns:a="http://schemas.openxmlformats.org/drawingml/2006/main">
              <a:ext uri="{FF2B5EF4-FFF2-40B4-BE49-F238E27FC236}">
                <a16:creationId xmlns:a16="http://schemas.microsoft.com/office/drawing/2014/main" id="{D4BC314E-E01B-48BA-B07E-3FDFEA7DB3B5}"/>
              </a:ext>
            </a:extLst>
          </p:cNvPr>
          <p:cNvSpPr>
            <a:spLocks xmlns:a="http://schemas.openxmlformats.org/drawingml/2006/main" noGrp="1"/>
          </p:cNvSpPr>
          <p:nvPr/>
        </p:nvSpPr>
        <p:spPr>
          <a:xfrm xmlns:a="http://schemas.openxmlformats.org/drawingml/2006/main">
            <a:off x="685800" y="4762500"/>
            <a:ext cx="10668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AFC3D0"/>
                </a:solidFill>
                <a:latin typeface="Helvetica Neue"/>
                <a:ea typeface="Helvetica Neue"/>
                <a:cs typeface="Helvetica Neue"/>
              </a:defRPr>
            </a:pPr>
            <a:r>
              <a:rPr sz="2400" b="0">
                <a:solidFill>
                  <a:srgbClr val="AFC3D0"/>
                </a:solidFill>
                <a:latin typeface="Helvetica Neue"/>
                <a:ea typeface="Helvetica Neue"/>
                <a:cs typeface="Helvetica Neue"/>
              </a:rPr>
              <a:t>Pausas, solapamientos y tiempos de respuesta</a:t>
            </a:r>
          </a:p>
          <a:p xmlns:a="http://schemas.openxmlformats.org/drawingml/2006/main">
            <a:pPr>
              <a:defRPr sz="2400" b="0">
                <a:solidFill>
                  <a:srgbClr val="AFC3D0"/>
                </a:solidFill>
                <a:latin typeface="Helvetica Neue"/>
                <a:ea typeface="Helvetica Neue"/>
                <a:cs typeface="Helvetica Neue"/>
              </a:defRPr>
            </a:pPr>
            <a:r>
              <a:rPr sz="2400" b="0">
                <a:solidFill>
                  <a:srgbClr val="AFC3D0"/>
                </a:solidFill>
                <a:latin typeface="Helvetica Neue"/>
                <a:ea typeface="Helvetica Neue"/>
                <a:cs typeface="Helvetica Neue"/>
              </a:rPr>
              <a:t>permiten examinar cada conversación.</a:t>
            </a:r>
          </a:p>
        </p:txBody>
      </p:sp>
    </p:spTree>
    <p:extLst>
      <p:ext uri="{BB962C8B-B14F-4D97-AF65-F5344CB8AC3E}">
        <p14:creationId xmlns:p14="http://schemas.microsoft.com/office/powerpoint/2010/main" val="2119888678"/>
      </p:ext>
    </p:extLst>
  </p:cSld>
</p:sld>
</file>

<file path=ppt/slides/slide3.xml><?xml version="1.0" encoding="utf-8"?>
<p:sld xmlns:p="http://schemas.openxmlformats.org/presentationml/2006/main">
  <p:cSld>
    <p:bg>
      <p:bgPr>
        <a:solidFill xmlns:a="http://schemas.openxmlformats.org/drawingml/2006/main">
          <a:srgbClr val="101A25"/>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021BB248-77FC-4E95-9CEA-BE1B96D8259B}"/>
              </a:ext>
            </a:extLst>
          </p:cNvPr>
          <p:cNvSpPr>
            <a:spLocks xmlns:a="http://schemas.openxmlformats.org/drawingml/2006/main" noGrp="1"/>
          </p:cNvSpPr>
          <p:nvPr/>
        </p:nvSpPr>
        <p:spPr>
          <a:xfrm xmlns:a="http://schemas.openxmlformats.org/drawingml/2006/main">
            <a:off x="685800" y="47625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750" b="1">
                <a:solidFill>
                  <a:srgbClr val="F0F5FA"/>
                </a:solidFill>
                <a:latin typeface="Helvetica Neue"/>
                <a:ea typeface="Helvetica Neue"/>
                <a:cs typeface="Helvetica Neue"/>
              </a:defRPr>
            </a:pPr>
            <a:r>
              <a:rPr sz="3750" b="1">
                <a:solidFill>
                  <a:srgbClr val="F0F5FA"/>
                </a:solidFill>
                <a:latin typeface="Helvetica Neue"/>
                <a:ea typeface="Helvetica Neue"/>
                <a:cs typeface="Helvetica Neue"/>
              </a:rPr>
              <a:t>67 aciertos en 71 llamadas</a:t>
            </a:r>
          </a:p>
        </p:txBody>
      </p:sp>
      <p:graphicFrame>
        <p:nvGraphicFramePr>
          <p:cNvPr id="8" name="Chart"/>
          <p:cNvGraphicFramePr/>
          <p:nvPr/>
        </p:nvGraphicFramePr>
        <p:xfrm>
          <a:off xmlns:a="http://schemas.openxmlformats.org/drawingml/2006/main" x="685800" y="1666875"/>
          <a:ext xmlns:a="http://schemas.openxmlformats.org/drawingml/2006/main" cx="7620000" cy="3667125"/>
        </p:xfrm>
        <a:graphic xmlns:a="http://schemas.openxmlformats.org/drawingml/2006/main">
          <a:graphicData uri="http://schemas.openxmlformats.org/drawingml/2006/chart">
            <c:chart xmlns:r="http://schemas.openxmlformats.org/officeDocument/2006/relationships" xmlns:c="http://schemas.openxmlformats.org/drawingml/2006/chart" r:id="R613b999d740b42c7"/>
          </a:graphicData>
        </a:graphic>
      </p:graphicFrame>
      <p:sp>
        <p:nvSpPr>
          <p:cNvPr id="3" name="">
            <a:extLst xmlns:a="http://schemas.openxmlformats.org/drawingml/2006/main">
              <a:ext uri="{FF2B5EF4-FFF2-40B4-BE49-F238E27FC236}">
                <a16:creationId xmlns:a16="http://schemas.microsoft.com/office/drawing/2014/main" id="{2BC24EC1-D64D-49E5-8493-2C3C624E84F4}"/>
              </a:ext>
            </a:extLst>
          </p:cNvPr>
          <p:cNvSpPr>
            <a:spLocks xmlns:a="http://schemas.openxmlformats.org/drawingml/2006/main" noGrp="1"/>
          </p:cNvSpPr>
          <p:nvPr/>
        </p:nvSpPr>
        <p:spPr>
          <a:xfrm xmlns:a="http://schemas.openxmlformats.org/drawingml/2006/main">
            <a:off x="8858250" y="2190750"/>
            <a:ext cx="2667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250" b="1">
                <a:solidFill>
                  <a:srgbClr val="7EE8C2"/>
                </a:solidFill>
                <a:latin typeface="Helvetica Neue"/>
                <a:ea typeface="Helvetica Neue"/>
                <a:cs typeface="Helvetica Neue"/>
              </a:defRPr>
            </a:pPr>
            <a:r>
              <a:rPr sz="5250" b="1">
                <a:solidFill>
                  <a:srgbClr val="7EE8C2"/>
                </a:solidFill>
                <a:latin typeface="Helvetica Neue"/>
                <a:ea typeface="Helvetica Neue"/>
                <a:cs typeface="Helvetica Neue"/>
              </a:rPr>
              <a:t>94.4%</a:t>
            </a:r>
          </a:p>
        </p:txBody>
      </p:sp>
      <p:sp>
        <p:nvSpPr>
          <p:cNvPr id="4" name="">
            <a:extLst xmlns:a="http://schemas.openxmlformats.org/drawingml/2006/main">
              <a:ext uri="{FF2B5EF4-FFF2-40B4-BE49-F238E27FC236}">
                <a16:creationId xmlns:a16="http://schemas.microsoft.com/office/drawing/2014/main" id="{89D19282-059B-404D-B266-AE19404F5DB2}"/>
              </a:ext>
            </a:extLst>
          </p:cNvPr>
          <p:cNvSpPr>
            <a:spLocks xmlns:a="http://schemas.openxmlformats.org/drawingml/2006/main" noGrp="1"/>
          </p:cNvSpPr>
          <p:nvPr/>
        </p:nvSpPr>
        <p:spPr>
          <a:xfrm xmlns:a="http://schemas.openxmlformats.org/drawingml/2006/main">
            <a:off x="8858250" y="3286125"/>
            <a:ext cx="2667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AFC3D0"/>
                </a:solidFill>
                <a:latin typeface="Helvetica Neue"/>
                <a:ea typeface="Helvetica Neue"/>
                <a:cs typeface="Helvetica Neue"/>
              </a:defRPr>
            </a:pPr>
            <a:r>
              <a:rPr sz="2175" b="0">
                <a:solidFill>
                  <a:srgbClr val="AFC3D0"/>
                </a:solidFill>
                <a:latin typeface="Helvetica Neue"/>
                <a:ea typeface="Helvetica Neue"/>
                <a:cs typeface="Helvetica Neue"/>
              </a:rPr>
              <a:t>Accuracy</a:t>
            </a:r>
          </a:p>
          <a:p xmlns:a="http://schemas.openxmlformats.org/drawingml/2006/main">
            <a:pPr>
              <a:defRPr sz="2175" b="0">
                <a:solidFill>
                  <a:srgbClr val="AFC3D0"/>
                </a:solidFill>
                <a:latin typeface="Helvetica Neue"/>
                <a:ea typeface="Helvetica Neue"/>
                <a:cs typeface="Helvetica Neue"/>
              </a:defRPr>
            </a:pPr>
            <a:r>
              <a:rPr sz="2175" b="0">
                <a:solidFill>
                  <a:srgbClr val="AFC3D0"/>
                </a:solidFill>
                <a:latin typeface="Helvetica Neue"/>
                <a:ea typeface="Helvetica Neue"/>
                <a:cs typeface="Helvetica Neue"/>
              </a:rPr>
              <a:t>en val público</a:t>
            </a:r>
          </a:p>
        </p:txBody>
      </p:sp>
      <p:sp>
        <p:nvSpPr>
          <p:cNvPr id="5" name="">
            <a:extLst xmlns:a="http://schemas.openxmlformats.org/drawingml/2006/main">
              <a:ext uri="{FF2B5EF4-FFF2-40B4-BE49-F238E27FC236}">
                <a16:creationId xmlns:a16="http://schemas.microsoft.com/office/drawing/2014/main" id="{3D4EDBCB-EACF-4EAC-AD61-27C0A0A4ACE0}"/>
              </a:ext>
            </a:extLst>
          </p:cNvPr>
          <p:cNvSpPr>
            <a:spLocks xmlns:a="http://schemas.openxmlformats.org/drawingml/2006/main" noGrp="1"/>
          </p:cNvSpPr>
          <p:nvPr/>
        </p:nvSpPr>
        <p:spPr>
          <a:xfrm xmlns:a="http://schemas.openxmlformats.org/drawingml/2006/main">
            <a:off x="685800" y="5572125"/>
            <a:ext cx="1085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F0F5FA"/>
                </a:solidFill>
                <a:latin typeface="Helvetica Neue"/>
                <a:ea typeface="Helvetica Neue"/>
                <a:cs typeface="Helvetica Neue"/>
              </a:defRPr>
            </a:pPr>
            <a:r>
              <a:rPr sz="2100" b="0">
                <a:solidFill>
                  <a:srgbClr val="F0F5FA"/>
                </a:solidFill>
                <a:latin typeface="Helvetica Neue"/>
                <a:ea typeface="Helvetica Neue"/>
                <a:cs typeface="Helvetica Neue"/>
              </a:rPr>
              <a:t>3 humanos marcados sintéticos. 1 sintético marcado humano.</a:t>
            </a:r>
          </a:p>
        </p:txBody>
      </p:sp>
      <p:sp>
        <p:nvSpPr>
          <p:cNvPr id="6" name="">
            <a:extLst xmlns:a="http://schemas.openxmlformats.org/drawingml/2006/main">
              <a:ext uri="{FF2B5EF4-FFF2-40B4-BE49-F238E27FC236}">
                <a16:creationId xmlns:a16="http://schemas.microsoft.com/office/drawing/2014/main" id="{319F3789-F047-45F4-9976-59B89177EF21}"/>
              </a:ext>
            </a:extLst>
          </p:cNvPr>
          <p:cNvSpPr>
            <a:spLocks xmlns:a="http://schemas.openxmlformats.org/drawingml/2006/main" noGrp="1"/>
          </p:cNvSpPr>
          <p:nvPr/>
        </p:nvSpPr>
        <p:spPr>
          <a:xfrm xmlns:a="http://schemas.openxmlformats.org/drawingml/2006/main">
            <a:off x="685800" y="6096000"/>
            <a:ext cx="1085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AFC3D0"/>
                </a:solidFill>
                <a:latin typeface="Helvetica Neue"/>
                <a:ea typeface="Helvetica Neue"/>
                <a:cs typeface="Helvetica Neue"/>
              </a:defRPr>
            </a:pPr>
            <a:r>
              <a:rPr sz="1725" b="0">
                <a:solidFill>
                  <a:srgbClr val="AFC3D0"/>
                </a:solidFill>
                <a:latin typeface="Helvetica Neue"/>
                <a:ea typeface="Helvetica Neue"/>
                <a:cs typeface="Helvetica Neue"/>
              </a:rPr>
              <a:t>WAV completos por HTTP local. El conjunto oculto sigue pendiente.</a:t>
            </a:r>
          </a:p>
        </p:txBody>
      </p:sp>
    </p:spTree>
    <p:extLst>
      <p:ext uri="{BB962C8B-B14F-4D97-AF65-F5344CB8AC3E}">
        <p14:creationId xmlns:p14="http://schemas.microsoft.com/office/powerpoint/2010/main" val="1778260894"/>
      </p:ext>
    </p:extLst>
  </p:cSld>
</p:sld>
</file>

<file path=ppt/slides/slide4.xml><?xml version="1.0" encoding="utf-8"?>
<p:sld xmlns:p="http://schemas.openxmlformats.org/presentationml/2006/main">
  <p:cSld>
    <p:bg>
      <p:bgPr>
        <a:solidFill xmlns:a="http://schemas.openxmlformats.org/drawingml/2006/main">
          <a:srgbClr val="101A25"/>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6ADF8B8D-31C0-4B33-8B80-06AFAB5B36D1}"/>
              </a:ext>
            </a:extLst>
          </p:cNvPr>
          <p:cNvSpPr>
            <a:spLocks xmlns:a="http://schemas.openxmlformats.org/drawingml/2006/main" noGrp="1"/>
          </p:cNvSpPr>
          <p:nvPr/>
        </p:nvSpPr>
        <p:spPr>
          <a:xfrm xmlns:a="http://schemas.openxmlformats.org/drawingml/2006/main">
            <a:off x="685800" y="47625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750" b="1">
                <a:solidFill>
                  <a:srgbClr val="F0F5FA"/>
                </a:solidFill>
                <a:latin typeface="Helvetica Neue"/>
                <a:ea typeface="Helvetica Neue"/>
                <a:cs typeface="Helvetica Neue"/>
              </a:defRPr>
            </a:pPr>
            <a:r>
              <a:rPr sz="3750" b="1">
                <a:solidFill>
                  <a:srgbClr val="F0F5FA"/>
                </a:solidFill>
                <a:latin typeface="Helvetica Neue"/>
                <a:ea typeface="Helvetica Neue"/>
                <a:cs typeface="Helvetica Neue"/>
              </a:rPr>
              <a:t>Una decisión que se puede revisar</a:t>
            </a:r>
          </a:p>
        </p:txBody>
      </p:sp>
      <p:sp>
        <p:nvSpPr>
          <p:cNvPr id="2" name="">
            <a:extLst xmlns:a="http://schemas.openxmlformats.org/drawingml/2006/main">
              <a:ext uri="{FF2B5EF4-FFF2-40B4-BE49-F238E27FC236}">
                <a16:creationId xmlns:a16="http://schemas.microsoft.com/office/drawing/2014/main" id="{FFEC766A-1BA7-460C-84BF-B1FA887BF5C7}"/>
              </a:ext>
            </a:extLst>
          </p:cNvPr>
          <p:cNvSpPr>
            <a:spLocks xmlns:a="http://schemas.openxmlformats.org/drawingml/2006/main" noGrp="1"/>
          </p:cNvSpPr>
          <p:nvPr/>
        </p:nvSpPr>
        <p:spPr>
          <a:xfrm xmlns:a="http://schemas.openxmlformats.org/drawingml/2006/main">
            <a:off x="685800" y="1809750"/>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7EE8C2"/>
                </a:solidFill>
                <a:latin typeface="Helvetica Neue"/>
                <a:ea typeface="Helvetica Neue"/>
                <a:cs typeface="Helvetica Neue"/>
              </a:defRPr>
            </a:pPr>
            <a:r>
              <a:rPr sz="3000" b="1">
                <a:solidFill>
                  <a:srgbClr val="7EE8C2"/>
                </a:solidFill>
                <a:latin typeface="Helvetica Neue"/>
                <a:ea typeface="Helvetica Neue"/>
                <a:cs typeface="Helvetica Neue"/>
              </a:rPr>
              <a:t>WAV y veredicto</a:t>
            </a:r>
          </a:p>
        </p:txBody>
      </p:sp>
      <p:sp>
        <p:nvSpPr>
          <p:cNvPr id="3" name="">
            <a:extLst xmlns:a="http://schemas.openxmlformats.org/drawingml/2006/main">
              <a:ext uri="{FF2B5EF4-FFF2-40B4-BE49-F238E27FC236}">
                <a16:creationId xmlns:a16="http://schemas.microsoft.com/office/drawing/2014/main" id="{3A5B34B9-5BC6-4FFB-8476-C3916E41E3DE}"/>
              </a:ext>
            </a:extLst>
          </p:cNvPr>
          <p:cNvSpPr>
            <a:spLocks xmlns:a="http://schemas.openxmlformats.org/drawingml/2006/main" noGrp="1"/>
          </p:cNvSpPr>
          <p:nvPr/>
        </p:nvSpPr>
        <p:spPr>
          <a:xfrm xmlns:a="http://schemas.openxmlformats.org/drawingml/2006/main">
            <a:off x="685800" y="2619375"/>
            <a:ext cx="10668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F0F5FA"/>
                </a:solidFill>
                <a:latin typeface="Helvetica Neue"/>
                <a:ea typeface="Helvetica Neue"/>
                <a:cs typeface="Helvetica Neue"/>
              </a:defRPr>
            </a:pPr>
            <a:r>
              <a:rPr sz="2400" b="0">
                <a:solidFill>
                  <a:srgbClr val="F0F5FA"/>
                </a:solidFill>
                <a:latin typeface="Helvetica Neue"/>
                <a:ea typeface="Helvetica Neue"/>
                <a:cs typeface="Helvetica Neue"/>
              </a:rPr>
              <a:t>Identificador, latencia y probabilidad en el registro local</a:t>
            </a:r>
          </a:p>
        </p:txBody>
      </p:sp>
      <p:sp>
        <p:nvSpPr>
          <p:cNvPr id="4" name="">
            <a:extLst xmlns:a="http://schemas.openxmlformats.org/drawingml/2006/main">
              <a:ext uri="{FF2B5EF4-FFF2-40B4-BE49-F238E27FC236}">
                <a16:creationId xmlns:a16="http://schemas.microsoft.com/office/drawing/2014/main" id="{99DC8924-439A-4E0F-9792-63D71B472429}"/>
              </a:ext>
            </a:extLst>
          </p:cNvPr>
          <p:cNvSpPr>
            <a:spLocks xmlns:a="http://schemas.openxmlformats.org/drawingml/2006/main" noGrp="1"/>
          </p:cNvSpPr>
          <p:nvPr/>
        </p:nvSpPr>
        <p:spPr>
          <a:xfrm xmlns:a="http://schemas.openxmlformats.org/drawingml/2006/main">
            <a:off x="685800" y="3857625"/>
            <a:ext cx="10668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75" b="1">
                <a:solidFill>
                  <a:srgbClr val="F0F5FA"/>
                </a:solidFill>
                <a:latin typeface="Helvetica Neue"/>
                <a:ea typeface="Helvetica Neue"/>
                <a:cs typeface="Helvetica Neue"/>
              </a:defRPr>
            </a:pPr>
            <a:r>
              <a:rPr sz="3075" b="1">
                <a:solidFill>
                  <a:srgbClr val="F0F5FA"/>
                </a:solidFill>
                <a:latin typeface="Helvetica Neue"/>
                <a:ea typeface="Helvetica Neue"/>
                <a:cs typeface="Helvetica Neue"/>
              </a:rPr>
              <a:t>“Solicita una verificación adicional de identidad.”</a:t>
            </a:r>
          </a:p>
        </p:txBody>
      </p:sp>
      <p:sp>
        <p:nvSpPr>
          <p:cNvPr id="5" name="">
            <a:extLst xmlns:a="http://schemas.openxmlformats.org/drawingml/2006/main">
              <a:ext uri="{FF2B5EF4-FFF2-40B4-BE49-F238E27FC236}">
                <a16:creationId xmlns:a16="http://schemas.microsoft.com/office/drawing/2014/main" id="{922C605E-B07F-48B5-9607-8FEC36E4B6DC}"/>
              </a:ext>
            </a:extLst>
          </p:cNvPr>
          <p:cNvSpPr>
            <a:spLocks xmlns:a="http://schemas.openxmlformats.org/drawingml/2006/main" noGrp="1"/>
          </p:cNvSpPr>
          <p:nvPr/>
        </p:nvSpPr>
        <p:spPr>
          <a:xfrm xmlns:a="http://schemas.openxmlformats.org/drawingml/2006/main">
            <a:off x="685800" y="5381625"/>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AFC3D0"/>
                </a:solidFill>
                <a:latin typeface="Helvetica Neue"/>
                <a:ea typeface="Helvetica Neue"/>
                <a:cs typeface="Helvetica Neue"/>
              </a:defRPr>
            </a:pPr>
            <a:r>
              <a:rPr sz="2025" b="0">
                <a:solidFill>
                  <a:srgbClr val="AFC3D0"/>
                </a:solidFill>
                <a:latin typeface="Helvetica Neue"/>
                <a:ea typeface="Helvetica Neue"/>
                <a:cs typeface="Helvetica Neue"/>
              </a:rPr>
              <a:t>La alerta no confirma fraude. ElevenLabs requiere credenciales.</a:t>
            </a:r>
          </a:p>
        </p:txBody>
      </p:sp>
    </p:spTree>
    <p:extLst>
      <p:ext uri="{BB962C8B-B14F-4D97-AF65-F5344CB8AC3E}">
        <p14:creationId xmlns:p14="http://schemas.microsoft.com/office/powerpoint/2010/main" val="723524728"/>
      </p:ext>
    </p:extLst>
  </p:cSld>
</p:sld>
</file>

<file path=ppt/slides/slide5.xml><?xml version="1.0" encoding="utf-8"?>
<p:sld xmlns:p="http://schemas.openxmlformats.org/presentationml/2006/main">
  <p:cSld>
    <p:bg>
      <p:bgPr>
        <a:solidFill xmlns:a="http://schemas.openxmlformats.org/drawingml/2006/main">
          <a:srgbClr val="101A25"/>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A9B52581-8C6D-4993-AA19-1A2A96CD9404}"/>
              </a:ext>
            </a:extLst>
          </p:cNvPr>
          <p:cNvSpPr>
            <a:spLocks xmlns:a="http://schemas.openxmlformats.org/drawingml/2006/main" noGrp="1"/>
          </p:cNvSpPr>
          <p:nvPr/>
        </p:nvSpPr>
        <p:spPr>
          <a:xfrm xmlns:a="http://schemas.openxmlformats.org/drawingml/2006/main">
            <a:off x="685800" y="47625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750" b="1">
                <a:solidFill>
                  <a:srgbClr val="F0F5FA"/>
                </a:solidFill>
                <a:latin typeface="Helvetica Neue"/>
                <a:ea typeface="Helvetica Neue"/>
                <a:cs typeface="Helvetica Neue"/>
              </a:defRPr>
            </a:pPr>
            <a:r>
              <a:rPr sz="3750" b="1">
                <a:solidFill>
                  <a:srgbClr val="F0F5FA"/>
                </a:solidFill>
                <a:latin typeface="Helvetica Neue"/>
                <a:ea typeface="Helvetica Neue"/>
                <a:cs typeface="Helvetica Neue"/>
              </a:rPr>
              <a:t>Estado del prototipo</a:t>
            </a:r>
          </a:p>
        </p:txBody>
      </p:sp>
      <p:sp>
        <p:nvSpPr>
          <p:cNvPr id="2" name="">
            <a:extLst xmlns:a="http://schemas.openxmlformats.org/drawingml/2006/main">
              <a:ext uri="{FF2B5EF4-FFF2-40B4-BE49-F238E27FC236}">
                <a16:creationId xmlns:a16="http://schemas.microsoft.com/office/drawing/2014/main" id="{C0989588-4113-40EA-BC72-8D26E84A790A}"/>
              </a:ext>
            </a:extLst>
          </p:cNvPr>
          <p:cNvSpPr>
            <a:spLocks xmlns:a="http://schemas.openxmlformats.org/drawingml/2006/main" noGrp="1"/>
          </p:cNvSpPr>
          <p:nvPr/>
        </p:nvSpPr>
        <p:spPr>
          <a:xfrm xmlns:a="http://schemas.openxmlformats.org/drawingml/2006/main">
            <a:off x="685800" y="1809750"/>
            <a:ext cx="5334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1">
                <a:solidFill>
                  <a:srgbClr val="7EE8C2"/>
                </a:solidFill>
                <a:latin typeface="Helvetica Neue"/>
                <a:ea typeface="Helvetica Neue"/>
                <a:cs typeface="Helvetica Neue"/>
              </a:defRPr>
            </a:pPr>
            <a:r>
              <a:rPr sz="2850" b="1">
                <a:solidFill>
                  <a:srgbClr val="7EE8C2"/>
                </a:solidFill>
                <a:latin typeface="Helvetica Neue"/>
                <a:ea typeface="Helvetica Neue"/>
                <a:cs typeface="Helvetica Neue"/>
              </a:rPr>
              <a:t>Funciona localmente</a:t>
            </a:r>
          </a:p>
        </p:txBody>
      </p:sp>
      <p:sp>
        <p:nvSpPr>
          <p:cNvPr id="3" name="">
            <a:extLst xmlns:a="http://schemas.openxmlformats.org/drawingml/2006/main">
              <a:ext uri="{FF2B5EF4-FFF2-40B4-BE49-F238E27FC236}">
                <a16:creationId xmlns:a16="http://schemas.microsoft.com/office/drawing/2014/main" id="{7576F0D2-0337-4AB9-B760-F34FEAF0D373}"/>
              </a:ext>
            </a:extLst>
          </p:cNvPr>
          <p:cNvSpPr>
            <a:spLocks xmlns:a="http://schemas.openxmlformats.org/drawingml/2006/main" noGrp="1"/>
          </p:cNvSpPr>
          <p:nvPr/>
        </p:nvSpPr>
        <p:spPr>
          <a:xfrm xmlns:a="http://schemas.openxmlformats.org/drawingml/2006/main">
            <a:off x="685800" y="2714625"/>
            <a:ext cx="523875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75" b="0">
                <a:solidFill>
                  <a:srgbClr val="F0F5FA"/>
                </a:solidFill>
                <a:latin typeface="Helvetica Neue"/>
                <a:ea typeface="Helvetica Neue"/>
                <a:cs typeface="Helvetica Neue"/>
              </a:defRPr>
            </a:pPr>
            <a:r>
              <a:rPr sz="2475" b="0">
                <a:solidFill>
                  <a:srgbClr val="F0F5FA"/>
                </a:solidFill>
                <a:latin typeface="Helvetica Neue"/>
                <a:ea typeface="Helvetica Neue"/>
                <a:cs typeface="Helvetica Neue"/>
              </a:rPr>
              <a:t>Clasificación de WAV</a:t>
            </a:r>
          </a:p>
          <a:p xmlns:a="http://schemas.openxmlformats.org/drawingml/2006/main">
            <a:pPr>
              <a:defRPr sz="2475" b="0">
                <a:solidFill>
                  <a:srgbClr val="F0F5FA"/>
                </a:solidFill>
                <a:latin typeface="Helvetica Neue"/>
                <a:ea typeface="Helvetica Neue"/>
                <a:cs typeface="Helvetica Neue"/>
              </a:defRPr>
            </a:pPr>
            <a:r>
              <a:rPr sz="2475" b="0">
                <a:solidFill>
                  <a:srgbClr val="F0F5FA"/>
                </a:solidFill>
                <a:latin typeface="Helvetica Neue"/>
                <a:ea typeface="Helvetica Neue"/>
                <a:cs typeface="Helvetica Neue"/>
              </a:rPr>
              <a:t>Análisis temporal</a:t>
            </a:r>
          </a:p>
          <a:p xmlns:a="http://schemas.openxmlformats.org/drawingml/2006/main">
            <a:pPr>
              <a:defRPr sz="2475" b="0">
                <a:solidFill>
                  <a:srgbClr val="F0F5FA"/>
                </a:solidFill>
                <a:latin typeface="Helvetica Neue"/>
                <a:ea typeface="Helvetica Neue"/>
                <a:cs typeface="Helvetica Neue"/>
              </a:defRPr>
            </a:pPr>
            <a:r>
              <a:rPr sz="2475" b="0">
                <a:solidFill>
                  <a:srgbClr val="F0F5FA"/>
                </a:solidFill>
                <a:latin typeface="Helvetica Neue"/>
                <a:ea typeface="Helvetica Neue"/>
                <a:cs typeface="Helvetica Neue"/>
              </a:rPr>
              <a:t>Auditoría persistente</a:t>
            </a:r>
          </a:p>
        </p:txBody>
      </p:sp>
      <p:sp>
        <p:nvSpPr>
          <p:cNvPr id="4" name="">
            <a:extLst xmlns:a="http://schemas.openxmlformats.org/drawingml/2006/main">
              <a:ext uri="{FF2B5EF4-FFF2-40B4-BE49-F238E27FC236}">
                <a16:creationId xmlns:a16="http://schemas.microsoft.com/office/drawing/2014/main" id="{8821195B-4D12-41AE-A4EA-622B6F5733DC}"/>
              </a:ext>
            </a:extLst>
          </p:cNvPr>
          <p:cNvSpPr>
            <a:spLocks xmlns:a="http://schemas.openxmlformats.org/drawingml/2006/main" noGrp="1"/>
          </p:cNvSpPr>
          <p:nvPr/>
        </p:nvSpPr>
        <p:spPr>
          <a:xfrm xmlns:a="http://schemas.openxmlformats.org/drawingml/2006/main">
            <a:off x="6858000" y="1809750"/>
            <a:ext cx="4667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1">
                <a:solidFill>
                  <a:srgbClr val="FFC27D"/>
                </a:solidFill>
                <a:latin typeface="Helvetica Neue"/>
                <a:ea typeface="Helvetica Neue"/>
                <a:cs typeface="Helvetica Neue"/>
              </a:defRPr>
            </a:pPr>
            <a:r>
              <a:rPr sz="2850" b="1">
                <a:solidFill>
                  <a:srgbClr val="FFC27D"/>
                </a:solidFill>
                <a:latin typeface="Helvetica Neue"/>
                <a:ea typeface="Helvetica Neue"/>
                <a:cs typeface="Helvetica Neue"/>
              </a:rPr>
              <a:t>Siguiente validación</a:t>
            </a:r>
          </a:p>
        </p:txBody>
      </p:sp>
      <p:sp>
        <p:nvSpPr>
          <p:cNvPr id="5" name="">
            <a:extLst xmlns:a="http://schemas.openxmlformats.org/drawingml/2006/main">
              <a:ext uri="{FF2B5EF4-FFF2-40B4-BE49-F238E27FC236}">
                <a16:creationId xmlns:a16="http://schemas.microsoft.com/office/drawing/2014/main" id="{5FF239D8-9450-47A8-B703-B862D2BF82DE}"/>
              </a:ext>
            </a:extLst>
          </p:cNvPr>
          <p:cNvSpPr>
            <a:spLocks xmlns:a="http://schemas.openxmlformats.org/drawingml/2006/main" noGrp="1"/>
          </p:cNvSpPr>
          <p:nvPr/>
        </p:nvSpPr>
        <p:spPr>
          <a:xfrm xmlns:a="http://schemas.openxmlformats.org/drawingml/2006/main">
            <a:off x="6858000" y="2714625"/>
            <a:ext cx="466725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75" b="0">
                <a:solidFill>
                  <a:srgbClr val="F0F5FA"/>
                </a:solidFill>
                <a:latin typeface="Helvetica Neue"/>
                <a:ea typeface="Helvetica Neue"/>
                <a:cs typeface="Helvetica Neue"/>
              </a:defRPr>
            </a:pPr>
            <a:r>
              <a:rPr sz="2475" b="0">
                <a:solidFill>
                  <a:srgbClr val="F0F5FA"/>
                </a:solidFill>
                <a:latin typeface="Helvetica Neue"/>
                <a:ea typeface="Helvetica Neue"/>
                <a:cs typeface="Helvetica Neue"/>
              </a:rPr>
              <a:t>Gemini y ElevenLabs</a:t>
            </a:r>
          </a:p>
          <a:p xmlns:a="http://schemas.openxmlformats.org/drawingml/2006/main">
            <a:pPr>
              <a:defRPr sz="2475" b="0">
                <a:solidFill>
                  <a:srgbClr val="F0F5FA"/>
                </a:solidFill>
                <a:latin typeface="Helvetica Neue"/>
                <a:ea typeface="Helvetica Neue"/>
                <a:cs typeface="Helvetica Neue"/>
              </a:defRPr>
            </a:pPr>
            <a:r>
              <a:rPr sz="2475" b="0">
                <a:solidFill>
                  <a:srgbClr val="F0F5FA"/>
                </a:solidFill>
                <a:latin typeface="Helvetica Neue"/>
                <a:ea typeface="Helvetica Neue"/>
                <a:cs typeface="Helvetica Neue"/>
              </a:rPr>
              <a:t>PostgreSQL / Tiger Data</a:t>
            </a:r>
          </a:p>
          <a:p xmlns:a="http://schemas.openxmlformats.org/drawingml/2006/main">
            <a:pPr>
              <a:defRPr sz="2475" b="0">
                <a:solidFill>
                  <a:srgbClr val="F0F5FA"/>
                </a:solidFill>
                <a:latin typeface="Helvetica Neue"/>
                <a:ea typeface="Helvetica Neue"/>
                <a:cs typeface="Helvetica Neue"/>
              </a:defRPr>
            </a:pPr>
            <a:r>
              <a:rPr sz="2475" b="0">
                <a:solidFill>
                  <a:srgbClr val="F0F5FA"/>
                </a:solidFill>
                <a:latin typeface="Helvetica Neue"/>
                <a:ea typeface="Helvetica Neue"/>
                <a:cs typeface="Helvetica Neue"/>
              </a:rPr>
              <a:t>Despliegue con HTTPS</a:t>
            </a:r>
          </a:p>
        </p:txBody>
      </p:sp>
      <p:sp>
        <p:nvSpPr>
          <p:cNvPr id="6" name="">
            <a:extLst xmlns:a="http://schemas.openxmlformats.org/drawingml/2006/main">
              <a:ext uri="{FF2B5EF4-FFF2-40B4-BE49-F238E27FC236}">
                <a16:creationId xmlns:a16="http://schemas.microsoft.com/office/drawing/2014/main" id="{22A763BF-FE2C-4274-9D8D-A6AFA5E9009B}"/>
              </a:ext>
            </a:extLst>
          </p:cNvPr>
          <p:cNvSpPr>
            <a:spLocks xmlns:a="http://schemas.openxmlformats.org/drawingml/2006/main" noGrp="1"/>
          </p:cNvSpPr>
          <p:nvPr/>
        </p:nvSpPr>
        <p:spPr>
          <a:xfrm xmlns:a="http://schemas.openxmlformats.org/drawingml/2006/main">
            <a:off x="685800" y="5572125"/>
            <a:ext cx="10763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75" b="0">
                <a:solidFill>
                  <a:srgbClr val="AFC3D0"/>
                </a:solidFill>
                <a:latin typeface="Helvetica Neue"/>
                <a:ea typeface="Helvetica Neue"/>
                <a:cs typeface="Helvetica Neue"/>
              </a:defRPr>
            </a:pPr>
            <a:r>
              <a:rPr sz="2775" b="0">
                <a:solidFill>
                  <a:srgbClr val="AFC3D0"/>
                </a:solidFill>
                <a:latin typeface="Helvetica Neue"/>
                <a:ea typeface="Helvetica Neue"/>
                <a:cs typeface="Helvetica Neue"/>
              </a:rPr>
              <a:t>Una señal de apoyo para verificar identidad.</a:t>
            </a:r>
          </a:p>
        </p:txBody>
      </p:sp>
    </p:spTree>
    <p:extLst>
      <p:ext uri="{BB962C8B-B14F-4D97-AF65-F5344CB8AC3E}">
        <p14:creationId xmlns:p14="http://schemas.microsoft.com/office/powerpoint/2010/main" val="117142580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2026-09-12T07:36:08.2320000Z</dcterms:created>
  <dcterms:modified xsi:type="dcterms:W3CDTF">2026-09-12T07:36:08.2320000Z</dcterms:modified>
</coreProperties>
</file>